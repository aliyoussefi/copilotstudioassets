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E6465-18E7-4263-AA61-8B0AC329C4F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EB0AE-74DB-4C50-8534-2C274FD51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25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2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85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94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73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67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43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92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38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61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98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2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23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33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40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99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90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1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4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52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B0AE-74DB-4C50-8534-2C274FD512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DA1-9D44-89A7-5EB9-BF97DC468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C301E-5DF4-CE7D-6304-92570F3D5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9C620-5962-9354-E155-08625B98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12AE-1EFC-6521-CDD2-9259F0AB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2650-EA31-6B16-BE36-77E6AE59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9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F7F2-FEFB-1A1F-D46C-83382B51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2C33-A694-D45F-F8D2-A0C0BAF6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624F-9AE7-EDC7-5027-285B573F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63D7F-D110-CF04-D73E-99689135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B2B3-F00B-BF1D-7CEE-C45D44C4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6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027F-E2A6-9C98-142E-E9A825B0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573EE-431B-4517-EF0D-535E2525B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C260-7124-6F9B-7F8C-3FB2DAB7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0661F-AD39-9A49-11D6-441695AA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47B23-1686-B360-AA7B-464DE9DF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9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87A6-0242-74D2-C121-13581BCA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6C23-8E16-8471-1DBE-E68830515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288DC-72EE-43CF-B1DF-EFE09187D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9239C-A6F5-61FC-E1C7-D905F7FB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2EFF0-8EBC-E1CE-CD96-CC3AF452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38404-7036-CAE5-276E-EA17CAB6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1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017F-EC63-187F-BBC4-97BC345D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F0430-7B8C-E339-E7F3-C97BFF5E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82030-F656-2BFC-62B3-205EE2B12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AA09C-1073-547C-BD52-54D1EF387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C70D5-532F-294C-5ADC-766E9273B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55F42-6BBD-FC29-19B0-8F289FCE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2A8BCE-701B-CA0B-6F35-75F1C8AB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A6BC2-E65A-180B-049A-9F639188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8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BDC8-9B8C-2E9B-1E13-B1F48E27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EBCF7-E06A-58FC-DD22-F3890B3B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4A135-A422-4182-5479-5732709A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E0432-C41B-AFF0-F7E1-482D7A44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4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397DDB-E8D6-FCF5-114E-233F1579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48C82-1174-CDF7-A3C1-6BFD4365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893E-4DFB-4D65-6CF0-F19EECFE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9E19-D58D-AC8B-3D5E-0A29DC6F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B8D6-A725-1051-5746-4E50F9E6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7C100-E36F-0A3D-7BFD-4663B6A00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23BEC-C69D-5BE6-17B9-91BE5F6E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8A82A-B315-0D35-3DA7-4624D9A9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96CD8-976B-3284-CD79-466C21D0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7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6F5D-9271-0E32-1B84-DC089885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FA7F4-307A-50F5-D9BC-FEBFC44D8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CB12B-0A2C-C435-1007-E48FA9A9E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E184F-B488-CD57-D559-7119AE04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D515F-43A9-E6D8-479D-6E2C680B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B0D8D-1D21-62B3-015F-0B574936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2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E221-0ABE-F3D2-27BD-EACB00D0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E2685-651F-098E-A76C-F4228AEB9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0C79-8DF8-4FE7-AB33-578C03DB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07E7C-FE45-09B5-582B-32C9EF02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B8FF1-BC90-E092-B10A-192B0104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3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37ED7-B9B8-CF6A-E5C7-B85206283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36625-4813-8075-C54B-3C5D40FC3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40AA-B5DF-F05E-46A0-9D975170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796E-1882-7EAE-7EFF-E252CA74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5A51E-7DA0-1CEB-7D0D-A20F2214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1E716-2D62-0848-E5D0-B5D5D0FD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6C7D5-F26A-DC54-753D-3E564F3B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079F-A130-441E-E1AE-B87A1A62D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89948-74AF-4F5B-AA00-5D5B8390E49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4C523-DB91-E2DF-551C-D939D49E5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D60E-FAF4-4F05-0602-17970AD80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7A7A-F037-4246-8228-096C31A11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0F1C-7F92-CFD3-978C-E695F95394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0078D4"/>
                </a:solidFill>
              </a:rPr>
              <a:t>Microsoft Release Wave 2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B16F0-577E-AF5D-BE17-A9F6462DD6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Feature Tracking &amp; Planning
October 2025 - March 2026</a:t>
            </a:r>
          </a:p>
        </p:txBody>
      </p:sp>
    </p:spTree>
    <p:extLst>
      <p:ext uri="{BB962C8B-B14F-4D97-AF65-F5344CB8AC3E}">
        <p14:creationId xmlns:p14="http://schemas.microsoft.com/office/powerpoint/2010/main" val="225529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F780-D1FC-CF82-88D4-21525A4A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72C5A-6954-CEA3-4BF8-1F31ED7A903A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Key Dates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239E6-10AC-3322-7CF5-2645A1A5DC39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Release Plans Available: July 16, 2025</a:t>
            </a:r>
          </a:p>
          <a:p>
            <a:pPr>
              <a:spcAft>
                <a:spcPts val="1200"/>
              </a:spcAft>
            </a:pPr>
            <a:r>
              <a:rPr lang="en-US"/>
              <a:t>â€¢ Early Access: August 4, 2025</a:t>
            </a:r>
          </a:p>
          <a:p>
            <a:pPr>
              <a:spcAft>
                <a:spcPts val="1200"/>
              </a:spcAft>
            </a:pPr>
            <a:r>
              <a:rPr lang="en-US"/>
              <a:t>â€¢ Additional Languages: July 30, 2025</a:t>
            </a:r>
          </a:p>
          <a:p>
            <a:pPr>
              <a:spcAft>
                <a:spcPts val="1200"/>
              </a:spcAft>
            </a:pPr>
            <a:r>
              <a:rPr lang="en-US"/>
              <a:t>â€¢ General Availability: October 1, 2025</a:t>
            </a:r>
          </a:p>
          <a:p>
            <a:pPr>
              <a:spcAft>
                <a:spcPts val="1200"/>
              </a:spcAft>
            </a:pPr>
            <a:r>
              <a:rPr lang="en-US"/>
              <a:t>â€¢ Release Concludes: March 2026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4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5DCA-9E43-59F3-46DF-00217EEE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A76EB-69B3-FA04-44E1-64E88ACA64D1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Release Wave 2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D9C41-ED18-2024-CA09-0A903A84A60B}"/>
              </a:ext>
            </a:extLst>
          </p:cNvPr>
          <p:cNvSpPr txBox="1"/>
          <p:nvPr/>
        </p:nvSpPr>
        <p:spPr>
          <a:xfrm>
            <a:off x="889000" y="1397000"/>
            <a:ext cx="10414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130+ New Features Across All Products</a:t>
            </a:r>
          </a:p>
          <a:p>
            <a:pPr>
              <a:spcAft>
                <a:spcPts val="1200"/>
              </a:spcAft>
            </a:pPr>
            <a:r>
              <a:rPr lang="en-US"/>
              <a:t>â€¢ Focus: AI Agents &amp; Autonomous Operations</a:t>
            </a:r>
          </a:p>
          <a:p>
            <a:pPr>
              <a:spcAft>
                <a:spcPts val="1200"/>
              </a:spcAft>
            </a:pPr>
            <a:r>
              <a:rPr lang="en-US"/>
              <a:t>â€¢ Seamless Microsoft 365 Integration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Governance &amp; Security</a:t>
            </a:r>
          </a:p>
          <a:p>
            <a:pPr>
              <a:spcAft>
                <a:spcPts val="1200"/>
              </a:spcAft>
            </a:pPr>
            <a:r>
              <a:rPr lang="en-US"/>
              <a:t>â€¢ Low-Code Development Tools</a:t>
            </a:r>
          </a:p>
          <a:p>
            <a:pPr>
              <a:spcAft>
                <a:spcPts val="1200"/>
              </a:spcAft>
            </a:pPr>
            <a:r>
              <a:rPr lang="en-US"/>
              <a:t>â€¢ Omnichannel Customer Experiences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8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D317-BDF3-AB57-CFDD-5ACFA4D6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AB0AE-89DE-2CF8-21C7-B34BC70FEA5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Microsoft Copilot Studio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ECFE-B9DB-AE8D-CAF7-184D012B8C57}"/>
              </a:ext>
            </a:extLst>
          </p:cNvPr>
          <p:cNvSpPr txBox="1"/>
          <p:nvPr/>
        </p:nvSpPr>
        <p:spPr>
          <a:xfrm>
            <a:off x="889000" y="1397000"/>
            <a:ext cx="10414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Autonomous agents in M365 Copilot</a:t>
            </a:r>
          </a:p>
          <a:p>
            <a:pPr>
              <a:spcAft>
                <a:spcPts val="1200"/>
              </a:spcAft>
            </a:pPr>
            <a:r>
              <a:rPr lang="en-US"/>
              <a:t>â€¢ Build teams of agents</a:t>
            </a:r>
          </a:p>
          <a:p>
            <a:pPr>
              <a:spcAft>
                <a:spcPts val="1200"/>
              </a:spcAft>
            </a:pPr>
            <a:r>
              <a:rPr lang="en-US"/>
              <a:t>â€¢ Enterprise governance improvements</a:t>
            </a:r>
          </a:p>
          <a:p>
            <a:pPr>
              <a:spcAft>
                <a:spcPts val="1200"/>
              </a:spcAft>
            </a:pPr>
            <a:r>
              <a:rPr lang="en-US"/>
              <a:t>â€¢ Azure AI Foundry integration</a:t>
            </a:r>
          </a:p>
          <a:p>
            <a:pPr>
              <a:spcAft>
                <a:spcPts val="1200"/>
              </a:spcAft>
            </a:pPr>
            <a:r>
              <a:rPr lang="en-US"/>
              <a:t>â€¢ Microsoft Graph integration</a:t>
            </a:r>
          </a:p>
          <a:p>
            <a:pPr>
              <a:spcAft>
                <a:spcPts val="1200"/>
              </a:spcAft>
            </a:pPr>
            <a:r>
              <a:rPr lang="en-US"/>
              <a:t>â€¢ Generative actions</a:t>
            </a:r>
          </a:p>
          <a:p>
            <a:pPr>
              <a:spcAft>
                <a:spcPts val="1200"/>
              </a:spcAft>
            </a:pPr>
            <a:r>
              <a:rPr lang="en-US"/>
              <a:t>â€¢ Copilot Tuning capabilities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362B-D23D-5E3B-6F28-003EF09D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F2986-1303-7140-AE5C-E62F55869573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Microsoft Dataverse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A0E73-5BB6-2024-DF12-80032F27C555}"/>
              </a:ext>
            </a:extLst>
          </p:cNvPr>
          <p:cNvSpPr txBox="1"/>
          <p:nvPr/>
        </p:nvSpPr>
        <p:spPr>
          <a:xfrm>
            <a:off x="889000" y="1397000"/>
            <a:ext cx="10414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Dataverse for Agents platform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Dataverse Search</a:t>
            </a:r>
          </a:p>
          <a:p>
            <a:pPr>
              <a:spcAft>
                <a:spcPts val="1200"/>
              </a:spcAft>
            </a:pPr>
            <a:r>
              <a:rPr lang="en-US"/>
              <a:t>â€¢ Model Context Protocol (MCP) Server</a:t>
            </a:r>
          </a:p>
          <a:p>
            <a:pPr>
              <a:spcAft>
                <a:spcPts val="1200"/>
              </a:spcAft>
            </a:pPr>
            <a:r>
              <a:rPr lang="en-US"/>
              <a:t>â€¢ AI-powered prompt columns</a:t>
            </a:r>
          </a:p>
          <a:p>
            <a:pPr>
              <a:spcAft>
                <a:spcPts val="1200"/>
              </a:spcAft>
            </a:pPr>
            <a:r>
              <a:rPr lang="en-US"/>
              <a:t>â€¢ AI business logic functions</a:t>
            </a:r>
          </a:p>
          <a:p>
            <a:pPr>
              <a:spcAft>
                <a:spcPts val="1200"/>
              </a:spcAft>
            </a:pPr>
            <a:r>
              <a:rPr lang="en-US"/>
              <a:t>â€¢ Unified FO management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catalog features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658A-8CA8-E656-1617-B59F129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6EFE4-F0BC-FB79-794D-E722314D0C00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Power Automate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3AF4D-D2E7-2CBE-A2BD-DC0206C676D2}"/>
              </a:ext>
            </a:extLst>
          </p:cNvPr>
          <p:cNvSpPr txBox="1"/>
          <p:nvPr/>
        </p:nvSpPr>
        <p:spPr>
          <a:xfrm>
            <a:off x="889000" y="1397000"/>
            <a:ext cx="10414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Generative Actions</a:t>
            </a:r>
          </a:p>
          <a:p>
            <a:pPr>
              <a:spcAft>
                <a:spcPts val="1200"/>
              </a:spcAft>
            </a:pPr>
            <a:r>
              <a:rPr lang="en-US"/>
              <a:t>â€¢ Intelligent Document Processing</a:t>
            </a:r>
          </a:p>
          <a:p>
            <a:pPr>
              <a:spcAft>
                <a:spcPts val="1200"/>
              </a:spcAft>
            </a:pPr>
            <a:r>
              <a:rPr lang="en-US"/>
              <a:t>â€¢ Advanced approvals</a:t>
            </a:r>
          </a:p>
          <a:p>
            <a:pPr>
              <a:spcAft>
                <a:spcPts val="1200"/>
              </a:spcAft>
            </a:pPr>
            <a:r>
              <a:rPr lang="en-US"/>
              <a:t>â€¢ Automation Center</a:t>
            </a:r>
          </a:p>
          <a:p>
            <a:pPr>
              <a:spcAft>
                <a:spcPts val="1200"/>
              </a:spcAft>
            </a:pPr>
            <a:r>
              <a:rPr lang="en-US"/>
              <a:t>â€¢ Process Map</a:t>
            </a:r>
          </a:p>
          <a:p>
            <a:pPr>
              <a:spcAft>
                <a:spcPts val="1200"/>
              </a:spcAft>
            </a:pPr>
            <a:r>
              <a:rPr lang="en-US"/>
              <a:t>â€¢ ROI analytics</a:t>
            </a:r>
          </a:p>
          <a:p>
            <a:pPr>
              <a:spcAft>
                <a:spcPts val="1200"/>
              </a:spcAft>
            </a:pPr>
            <a:r>
              <a:rPr lang="en-US"/>
              <a:t>â€¢ Desktop flows enhancements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E719-E39A-F4CB-17C2-11627B33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D027A-5F57-7440-9EDD-A7A1AEAA74F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Power Apps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F4B58-EBE5-311B-C9FC-374AF038E559}"/>
              </a:ext>
            </a:extLst>
          </p:cNvPr>
          <p:cNvSpPr txBox="1"/>
          <p:nvPr/>
        </p:nvSpPr>
        <p:spPr>
          <a:xfrm>
            <a:off x="889000" y="1397000"/>
            <a:ext cx="10414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Agent feed supervision</a:t>
            </a:r>
          </a:p>
          <a:p>
            <a:pPr>
              <a:spcAft>
                <a:spcPts val="1200"/>
              </a:spcAft>
            </a:pPr>
            <a:r>
              <a:rPr lang="en-US"/>
              <a:t>â€¢ Built-in agents</a:t>
            </a:r>
          </a:p>
          <a:p>
            <a:pPr>
              <a:spcAft>
                <a:spcPts val="1200"/>
              </a:spcAft>
            </a:pPr>
            <a:r>
              <a:rPr lang="en-US"/>
              <a:t>â€¢ Plan Designer</a:t>
            </a:r>
          </a:p>
          <a:p>
            <a:pPr>
              <a:spcAft>
                <a:spcPts val="1200"/>
              </a:spcAft>
            </a:pPr>
            <a:r>
              <a:rPr lang="en-US"/>
              <a:t>â€¢ App Agent vibe-coding</a:t>
            </a:r>
          </a:p>
          <a:p>
            <a:pPr>
              <a:spcAft>
                <a:spcPts val="1200"/>
              </a:spcAft>
            </a:pPr>
            <a:r>
              <a:rPr lang="en-US"/>
              <a:t>â€¢ Natural language creation</a:t>
            </a:r>
          </a:p>
          <a:p>
            <a:pPr>
              <a:spcAft>
                <a:spcPts val="1200"/>
              </a:spcAft>
            </a:pPr>
            <a:r>
              <a:rPr lang="en-US"/>
              <a:t>â€¢ Human-agent collaboration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1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82FC-AE51-0F76-6C42-08158B34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09506-45FF-C55D-8251-67733C502D92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Power Pages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666B5-9EEE-0FF0-6CA2-87A30FE54C41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Enhanced security agents</a:t>
            </a:r>
          </a:p>
          <a:p>
            <a:pPr>
              <a:spcAft>
                <a:spcPts val="1200"/>
              </a:spcAft>
            </a:pPr>
            <a:r>
              <a:rPr lang="en-US"/>
              <a:t>â€¢ Expedited site building</a:t>
            </a:r>
          </a:p>
          <a:p>
            <a:pPr>
              <a:spcAft>
                <a:spcPts val="1200"/>
              </a:spcAft>
            </a:pPr>
            <a:r>
              <a:rPr lang="en-US"/>
              <a:t>â€¢ Pro developer tools</a:t>
            </a:r>
          </a:p>
          <a:p>
            <a:pPr>
              <a:spcAft>
                <a:spcPts val="1200"/>
              </a:spcAft>
            </a:pPr>
            <a:r>
              <a:rPr lang="en-US"/>
              <a:t>â€¢ Actionable security insights</a:t>
            </a:r>
          </a:p>
          <a:p>
            <a:pPr>
              <a:spcAft>
                <a:spcPts val="1200"/>
              </a:spcAft>
            </a:pPr>
            <a:r>
              <a:rPr lang="en-US"/>
              <a:t>â€¢ Low-code maker empowerment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6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A69D-73D4-AAAA-AEA9-4D6084F5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7E252-F34F-A0F4-25E1-100C4A47DE5E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468C3-8121-631A-5BE2-CD4D9168D867}"/>
              </a:ext>
            </a:extLst>
          </p:cNvPr>
          <p:cNvSpPr txBox="1"/>
          <p:nvPr/>
        </p:nvSpPr>
        <p:spPr>
          <a:xfrm>
            <a:off x="889000" y="1397000"/>
            <a:ext cx="10414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24x7 autonomous AI agents</a:t>
            </a:r>
          </a:p>
          <a:p>
            <a:pPr>
              <a:spcAft>
                <a:spcPts val="1200"/>
              </a:spcAft>
            </a:pPr>
            <a:r>
              <a:rPr lang="en-US"/>
              <a:t>â€¢ Automated lead research</a:t>
            </a:r>
          </a:p>
          <a:p>
            <a:pPr>
              <a:spcAft>
                <a:spcPts val="1200"/>
              </a:spcAft>
            </a:pPr>
            <a:r>
              <a:rPr lang="en-US"/>
              <a:t>â€¢ Actionable Copilot insights</a:t>
            </a:r>
          </a:p>
          <a:p>
            <a:pPr>
              <a:spcAft>
                <a:spcPts val="1200"/>
              </a:spcAft>
            </a:pPr>
            <a:r>
              <a:rPr lang="en-US"/>
              <a:t>â€¢ Deal risk detection</a:t>
            </a:r>
          </a:p>
          <a:p>
            <a:pPr>
              <a:spcAft>
                <a:spcPts val="1200"/>
              </a:spcAft>
            </a:pPr>
            <a:r>
              <a:rPr lang="en-US"/>
              <a:t>â€¢ Reimagined seller interface</a:t>
            </a:r>
          </a:p>
          <a:p>
            <a:pPr>
              <a:spcAft>
                <a:spcPts val="1200"/>
              </a:spcAft>
            </a:pPr>
            <a:r>
              <a:rPr lang="en-US"/>
              <a:t>â€¢ Insights-focused workflows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5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1B26-CAB8-6DC3-8AB6-24BE9058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604CA-1DC5-2FA6-7FC1-A423FF00776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Customer Service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42941-BCE9-64DB-0610-F5333C1DF742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Enhanced agentic capabilities</a:t>
            </a:r>
          </a:p>
          <a:p>
            <a:pPr>
              <a:spcAft>
                <a:spcPts val="1200"/>
              </a:spcAft>
            </a:pPr>
            <a:r>
              <a:rPr lang="en-US"/>
              <a:t>â€¢ Copilot for Case Management</a:t>
            </a:r>
          </a:p>
          <a:p>
            <a:pPr>
              <a:spcAft>
                <a:spcPts val="1200"/>
              </a:spcAft>
            </a:pPr>
            <a:r>
              <a:rPr lang="en-US"/>
              <a:t>â€¢ Knowledge management</a:t>
            </a:r>
          </a:p>
          <a:p>
            <a:pPr>
              <a:spcAft>
                <a:spcPts val="1200"/>
              </a:spcAft>
            </a:pPr>
            <a:r>
              <a:rPr lang="en-US"/>
              <a:t>â€¢ AI-driven routing</a:t>
            </a:r>
          </a:p>
          <a:p>
            <a:pPr>
              <a:spcAft>
                <a:spcPts val="1200"/>
              </a:spcAft>
            </a:pPr>
            <a:r>
              <a:rPr lang="en-US"/>
              <a:t>â€¢ Automated service journeys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0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5A95-ABEB-47E7-F89B-7B2D21C6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974F9-8266-D756-88F5-C77CB5955DCF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Field Service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1AAF8-3491-F4A9-AAF9-56D594542AC9}"/>
              </a:ext>
            </a:extLst>
          </p:cNvPr>
          <p:cNvSpPr txBox="1"/>
          <p:nvPr/>
        </p:nvSpPr>
        <p:spPr>
          <a:xfrm>
            <a:off x="889000" y="1397000"/>
            <a:ext cx="10414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AI-powered field agents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scheduling</a:t>
            </a:r>
          </a:p>
          <a:p>
            <a:pPr>
              <a:spcAft>
                <a:spcPts val="1200"/>
              </a:spcAft>
            </a:pPr>
            <a:r>
              <a:rPr lang="en-US"/>
              <a:t>â€¢ Mobile improvements</a:t>
            </a:r>
          </a:p>
          <a:p>
            <a:pPr>
              <a:spcAft>
                <a:spcPts val="1200"/>
              </a:spcAft>
            </a:pPr>
            <a:r>
              <a:rPr lang="en-US"/>
              <a:t>â€¢ M365 integration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inspections</a:t>
            </a:r>
          </a:p>
          <a:p>
            <a:pPr>
              <a:spcAft>
                <a:spcPts val="1200"/>
              </a:spcAft>
            </a:pPr>
            <a:r>
              <a:rPr lang="en-US"/>
              <a:t>â€¢ Project Operations connectivity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2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A0AB-ED2E-6BDD-3232-1BF93DFE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0B582-06D3-73F2-8990-C389AD9459F6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EE85D-CA21-C1BB-B2A2-5BCCB1408C63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Global-scale operations</a:t>
            </a:r>
          </a:p>
          <a:p>
            <a:pPr>
              <a:spcAft>
                <a:spcPts val="1200"/>
              </a:spcAft>
            </a:pPr>
            <a:r>
              <a:rPr lang="en-US"/>
              <a:t>â€¢ Faster financial close</a:t>
            </a:r>
          </a:p>
          <a:p>
            <a:pPr>
              <a:spcAft>
                <a:spcPts val="1200"/>
              </a:spcAft>
            </a:pPr>
            <a:r>
              <a:rPr lang="en-US"/>
              <a:t>â€¢ Performance analytics</a:t>
            </a:r>
          </a:p>
          <a:p>
            <a:pPr>
              <a:spcAft>
                <a:spcPts val="1200"/>
              </a:spcAft>
            </a:pPr>
            <a:r>
              <a:rPr lang="en-US"/>
              <a:t>â€¢ Planning improvements</a:t>
            </a:r>
          </a:p>
          <a:p>
            <a:pPr>
              <a:spcAft>
                <a:spcPts val="1200"/>
              </a:spcAft>
            </a:pPr>
            <a:r>
              <a:rPr lang="en-US"/>
              <a:t>â€¢ Automation across ops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BC77-BC6D-A061-78D0-1B92207F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B9D14-8C2C-2305-FD41-7169F3AEBFE4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Supply Chain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BCE4A-E916-6071-B9E9-3F73D20F2FC0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Event &amp; promotion forecasting</a:t>
            </a:r>
          </a:p>
          <a:p>
            <a:pPr>
              <a:spcAft>
                <a:spcPts val="1200"/>
              </a:spcAft>
            </a:pPr>
            <a:r>
              <a:rPr lang="en-US"/>
              <a:t>â€¢ Enhanced demand planning</a:t>
            </a:r>
          </a:p>
          <a:p>
            <a:pPr>
              <a:spcAft>
                <a:spcPts val="1200"/>
              </a:spcAft>
            </a:pPr>
            <a:r>
              <a:rPr lang="en-US"/>
              <a:t>â€¢ Quality management</a:t>
            </a:r>
          </a:p>
          <a:p>
            <a:pPr>
              <a:spcAft>
                <a:spcPts val="1200"/>
              </a:spcAft>
            </a:pPr>
            <a:r>
              <a:rPr lang="en-US"/>
              <a:t>â€¢ Supplier communication agent</a:t>
            </a:r>
          </a:p>
          <a:p>
            <a:pPr>
              <a:spcAft>
                <a:spcPts val="1200"/>
              </a:spcAft>
            </a:pPr>
            <a:r>
              <a:rPr lang="en-US"/>
              <a:t>â€¢ Warehouse app upgrades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4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1419-50B6-4CE8-A194-76B03A85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C6DB3-E0CE-05FB-3149-E7CE86D78D7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Business Central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9179D7-6A1F-178C-7413-B52C839AA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952964"/>
              </p:ext>
            </p:extLst>
          </p:nvPr>
        </p:nvGraphicFramePr>
        <p:xfrm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2774185214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011639579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2694060939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Interest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837079"/>
                  </a:ext>
                </a:extLst>
              </a:tr>
              <a:tr h="2540000">
                <a:tc>
                  <a:txBody>
                    <a:bodyPr/>
                    <a:lstStyle/>
                    <a:p>
                      <a:r>
                        <a:rPr lang="en-US" sz="1200"/>
                        <a:t>Intelligent AI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Oct 2025 - 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56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19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383E-B4C3-4948-2CFB-9D81045E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DCCDF-7D22-EB89-BDF6-2768DB36448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Human Resources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B33ECA-DA79-AA69-58EB-132620FAC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6288"/>
              </p:ext>
            </p:extLst>
          </p:nvPr>
        </p:nvGraphicFramePr>
        <p:xfrm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91088659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736431427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331759659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Interest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470880"/>
                  </a:ext>
                </a:extLst>
              </a:tr>
              <a:tr h="2540000">
                <a:tc>
                  <a:txBody>
                    <a:bodyPr/>
                    <a:lstStyle/>
                    <a:p>
                      <a:r>
                        <a:rPr lang="en-US" sz="1200"/>
                        <a:t>Microsoft Entra ID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Oct 2025 - 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575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28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6CB-57BC-48B0-2599-9346AE53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3B71C-3C58-0D69-FD11-48C4D881FDB5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Contact Center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B2151-C962-EE60-D9AE-C1EB8F2C4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579519"/>
              </p:ext>
            </p:extLst>
          </p:nvPr>
        </p:nvGraphicFramePr>
        <p:xfrm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2569455674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60583200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16898292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Interest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62522"/>
                  </a:ext>
                </a:extLst>
              </a:tr>
              <a:tr h="2540000">
                <a:tc>
                  <a:txBody>
                    <a:bodyPr/>
                    <a:lstStyle/>
                    <a:p>
                      <a:r>
                        <a:rPr lang="en-US" sz="1200"/>
                        <a:t>Agentic capabilities for service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Oct 2025 - 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86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77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2739-CF2A-8A7E-85DB-E6DC7CE0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2B65C-9D5E-93D4-0688-5180F6186553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Power Automate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32793A-21D1-548A-064D-C16A586E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893492"/>
              </p:ext>
            </p:extLst>
          </p:nvPr>
        </p:nvGraphicFramePr>
        <p:xfrm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411534520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56868290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05789082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Interest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30839"/>
                  </a:ext>
                </a:extLst>
              </a:tr>
              <a:tr h="2540000">
                <a:tc>
                  <a:txBody>
                    <a:bodyPr/>
                    <a:lstStyle/>
                    <a:p>
                      <a:r>
                        <a:rPr lang="en-US" sz="1200"/>
                        <a:t>Generative Actions - AI-native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Oct 2025 - 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989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45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2FC3-3101-087E-D8F8-C7F2D4E0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24A0D-6E5F-288C-1979-8539AB1B5E47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Dynamics 365 Supply Chain Management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6BBCB-B899-B04C-6B1E-92644BFAA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27611"/>
              </p:ext>
            </p:extLst>
          </p:nvPr>
        </p:nvGraphicFramePr>
        <p:xfrm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923412512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2308633614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63139346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Interest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790964"/>
                  </a:ext>
                </a:extLst>
              </a:tr>
              <a:tr h="2540000">
                <a:tc>
                  <a:txBody>
                    <a:bodyPr/>
                    <a:lstStyle/>
                    <a:p>
                      <a:r>
                        <a:rPr lang="en-US" sz="1200"/>
                        <a:t>Event and promotion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Oct 2025 - 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68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36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1E80-A4E8-4335-9279-9A8BD331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D8756-AC93-8C30-7902-CAC61FBB2F0F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Feature Enablement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91CB3-2F2F-34ED-041D-978920DA31B8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Users, automatically - Enabled for all users</a:t>
            </a:r>
          </a:p>
          <a:p>
            <a:pPr>
              <a:spcAft>
                <a:spcPts val="1200"/>
              </a:spcAft>
            </a:pPr>
            <a:r>
              <a:rPr lang="en-US"/>
              <a:t>â€¢ Admins, makers, analysts - Auto-enabled</a:t>
            </a:r>
          </a:p>
          <a:p>
            <a:pPr>
              <a:spcAft>
                <a:spcPts val="1200"/>
              </a:spcAft>
            </a:pPr>
            <a:r>
              <a:rPr lang="en-US"/>
              <a:t>â€¢ By admins/makers - Requires configuration</a:t>
            </a:r>
          </a:p>
          <a:p>
            <a:pPr>
              <a:spcAft>
                <a:spcPts val="1200"/>
              </a:spcAft>
            </a:pPr>
            <a:r>
              <a:rPr lang="en-US"/>
              <a:t>â€¢ Check release plan for each feature</a:t>
            </a:r>
          </a:p>
          <a:p>
            <a:pPr>
              <a:spcAft>
                <a:spcPts val="1200"/>
              </a:spcAft>
            </a:pPr>
            <a:r>
              <a:rPr lang="en-US"/>
              <a:t>â€¢ Plan change management accordingly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79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8A4F-D092-3CB6-B371-8B949CA3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C83DE-ED63-0401-AED5-85A090FD6EDF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202F8-0126-7D50-E9D6-6E7312E2C304}"/>
              </a:ext>
            </a:extLst>
          </p:cNvPr>
          <p:cNvSpPr txBox="1"/>
          <p:nvPr/>
        </p:nvSpPr>
        <p:spPr>
          <a:xfrm>
            <a:off x="889000" y="1397000"/>
            <a:ext cx="10414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Review features for your organization</a:t>
            </a:r>
          </a:p>
          <a:p>
            <a:pPr>
              <a:spcAft>
                <a:spcPts val="1200"/>
              </a:spcAft>
            </a:pPr>
            <a:r>
              <a:rPr lang="en-US"/>
              <a:t>â€¢ Mark interest levels</a:t>
            </a:r>
          </a:p>
          <a:p>
            <a:pPr>
              <a:spcAft>
                <a:spcPts val="1200"/>
              </a:spcAft>
            </a:pPr>
            <a:r>
              <a:rPr lang="en-US"/>
              <a:t>â€¢ Create implementation roadmap</a:t>
            </a:r>
          </a:p>
          <a:p>
            <a:pPr>
              <a:spcAft>
                <a:spcPts val="1200"/>
              </a:spcAft>
            </a:pPr>
            <a:r>
              <a:rPr lang="en-US"/>
              <a:t>â€¢ Identify stakeholders</a:t>
            </a:r>
          </a:p>
          <a:p>
            <a:pPr>
              <a:spcAft>
                <a:spcPts val="1200"/>
              </a:spcAft>
            </a:pPr>
            <a:r>
              <a:rPr lang="en-US"/>
              <a:t>â€¢ Schedule training sessions</a:t>
            </a:r>
          </a:p>
          <a:p>
            <a:pPr>
              <a:spcAft>
                <a:spcPts val="1200"/>
              </a:spcAft>
            </a:pPr>
            <a:r>
              <a:rPr lang="en-US"/>
              <a:t>â€¢ Monitor progress monthly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57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016D-D09C-02F0-DA98-C25030A7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ED430-5444-9BBD-C284-CFD7B60E486A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078D4"/>
                </a:solidFill>
              </a:rPr>
              <a:t>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04965-00DF-520B-CF8B-420DD26F64B8}"/>
              </a:ext>
            </a:extLst>
          </p:cNvPr>
          <p:cNvSpPr txBox="1"/>
          <p:nvPr/>
        </p:nvSpPr>
        <p:spPr>
          <a:xfrm>
            <a:off x="889000" y="1397000"/>
            <a:ext cx="10414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/>
              <a:t>â€¢ Dynamics 365 Release Plan PDF</a:t>
            </a:r>
          </a:p>
          <a:p>
            <a:pPr>
              <a:spcAft>
                <a:spcPts val="1200"/>
              </a:spcAft>
            </a:pPr>
            <a:r>
              <a:rPr lang="en-US"/>
              <a:t>â€¢ Power Platform Release Plan PDF</a:t>
            </a:r>
          </a:p>
          <a:p>
            <a:pPr>
              <a:spcAft>
                <a:spcPts val="1200"/>
              </a:spcAft>
            </a:pPr>
            <a:r>
              <a:rPr lang="en-US"/>
              <a:t>â€¢ Online Release Planner Tool</a:t>
            </a:r>
          </a:p>
          <a:p>
            <a:pPr>
              <a:spcAft>
                <a:spcPts val="1200"/>
              </a:spcAft>
            </a:pPr>
            <a:r>
              <a:rPr lang="en-US"/>
              <a:t>â€¢ Community Forums</a:t>
            </a:r>
          </a:p>
          <a:p>
            <a:pPr>
              <a:spcAft>
                <a:spcPts val="1200"/>
              </a:spcAft>
            </a:pPr>
            <a:r>
              <a:rPr lang="en-US"/>
              <a:t>â€¢ Microsoft Ignite: Nov 17-21, 2025</a:t>
            </a:r>
          </a:p>
          <a:p>
            <a:pPr>
              <a:spcAft>
                <a:spcPts val="12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37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4E93-C21F-BFB5-1B90-0D5B867DE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0078D4"/>
                </a:solidFill>
              </a:rPr>
              <a:t>Questions &amp;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0D8C3-4C32-F789-D1E6-FFBAEF0AB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6151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Custom</PresentationFormat>
  <Paragraphs>157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Microsoft Release Wave 2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Youssefi</dc:creator>
  <cp:lastModifiedBy>Ali Youssefi</cp:lastModifiedBy>
  <cp:revision>1</cp:revision>
  <dcterms:created xsi:type="dcterms:W3CDTF">2025-10-24T16:05:41Z</dcterms:created>
  <dcterms:modified xsi:type="dcterms:W3CDTF">2025-10-24T16:05:41Z</dcterms:modified>
</cp:coreProperties>
</file>